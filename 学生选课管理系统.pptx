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3"/>
    <p:sldId id="258" r:id="rId4"/>
    <p:sldId id="257" r:id="rId5"/>
    <p:sldId id="276" r:id="rId6"/>
    <p:sldId id="259" r:id="rId7"/>
    <p:sldId id="260" r:id="rId8"/>
    <p:sldId id="283" r:id="rId9"/>
    <p:sldId id="262" r:id="rId10"/>
    <p:sldId id="265" r:id="rId11"/>
    <p:sldId id="267" r:id="rId12"/>
    <p:sldId id="277" r:id="rId13"/>
  </p:sldIdLst>
  <p:sldSz cx="12192000" cy="6858000"/>
  <p:notesSz cx="7104380" cy="1023493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278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pPr fontAlgn="auto"/>
            <a:fld id="{0F9B84EA-7D68-4D60-9CB1-D50884785D1C}" type="datetimeFigureOut">
              <a:rPr lang="zh-CN" altLang="en-US" sz="1245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pPr fontAlgn="auto"/>
            <a:fld id="{8D4E0FC9-F1F8-4FAE-9988-3BA365CFD46F}" type="slidenum">
              <a:rPr lang="zh-CN" altLang="en-US" sz="1245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6C8D182-E4C8-4120-9249-FC9774456FF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85D0DACE-38E0-42D2-9336-2B707D34BC6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单击此处添加标题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单击此处添加副标题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388"/>
            <a:ext cx="9144000" cy="2187575"/>
          </a:xfrm>
        </p:spPr>
        <p:txBody>
          <a:bodyPr anchor="b">
            <a:normAutofit/>
          </a:bodyPr>
          <a:lstStyle/>
          <a:p>
            <a:pPr marL="0" marR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6000" b="0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学生选课管理系统</a:t>
            </a:r>
            <a:endParaRPr kumimoji="0" lang="zh-CN" altLang="en-US" sz="6000" b="0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098" name="副标题 4"/>
          <p:cNvSpPr>
            <a:spLocks noGrp="1"/>
          </p:cNvSpPr>
          <p:nvPr>
            <p:ph type="subTitle" idx="1" hasCustomPrompt="1"/>
          </p:nvPr>
        </p:nvSpPr>
        <p:spPr/>
        <p:txBody>
          <a:bodyPr vert="horz" lIns="91440" tIns="45720" rIns="91440" bIns="45720" anchor="t" anchorCtr="0"/>
          <a:p>
            <a:pPr defTabSz="914400">
              <a:buClrTx/>
              <a:buSzTx/>
            </a:pPr>
            <a:r>
              <a:rPr lang="zh-CN" altLang="en-US" sz="3200" kern="1200">
                <a:solidFill>
                  <a:srgbClr val="404040"/>
                </a:solidFill>
                <a:latin typeface="Calibri Light" panose="020F0302020204030204" charset="0"/>
                <a:ea typeface="+mn-ea"/>
                <a:cs typeface="+mn-cs"/>
              </a:rPr>
              <a:t>第十四组</a:t>
            </a:r>
            <a:endParaRPr lang="zh-CN" altLang="en-US" sz="3200" kern="1200">
              <a:solidFill>
                <a:srgbClr val="404040"/>
              </a:solidFill>
              <a:latin typeface="Calibri Light" panose="020F0302020204030204" charset="0"/>
              <a:ea typeface="+mn-ea"/>
              <a:cs typeface="+mn-cs"/>
            </a:endParaRPr>
          </a:p>
          <a:p>
            <a:pPr defTabSz="914400">
              <a:buClrTx/>
              <a:buSzTx/>
            </a:pPr>
            <a:r>
              <a:rPr lang="zh-CN" altLang="en-US" kern="1200">
                <a:solidFill>
                  <a:srgbClr val="404040"/>
                </a:solidFill>
                <a:latin typeface="Calibri Light" panose="020F0302020204030204" charset="0"/>
                <a:ea typeface="+mn-ea"/>
                <a:cs typeface="+mn-cs"/>
              </a:rPr>
              <a:t>小组成员</a:t>
            </a:r>
            <a:r>
              <a:rPr lang="en-US" altLang="zh-CN" kern="1200">
                <a:solidFill>
                  <a:srgbClr val="404040"/>
                </a:solidFill>
                <a:latin typeface="Calibri Light" panose="020F0302020204030204" charset="0"/>
                <a:ea typeface="+mn-ea"/>
                <a:cs typeface="+mn-cs"/>
              </a:rPr>
              <a:t>:</a:t>
            </a:r>
            <a:r>
              <a:rPr lang="zh-CN" altLang="en-US" kern="1200">
                <a:solidFill>
                  <a:srgbClr val="404040"/>
                </a:solidFill>
                <a:latin typeface="Calibri Light" panose="020F0302020204030204" charset="0"/>
                <a:ea typeface="+mn-ea"/>
                <a:cs typeface="+mn-cs"/>
              </a:rPr>
              <a:t>苏茜</a:t>
            </a:r>
            <a:r>
              <a:rPr lang="en-US" altLang="zh-CN" kern="1200">
                <a:solidFill>
                  <a:srgbClr val="404040"/>
                </a:solidFill>
                <a:latin typeface="Calibri Light" panose="020F0302020204030204" charset="0"/>
                <a:ea typeface="+mn-ea"/>
                <a:cs typeface="+mn-cs"/>
              </a:rPr>
              <a:t> </a:t>
            </a:r>
            <a:r>
              <a:rPr lang="zh-CN" altLang="en-US" kern="1200">
                <a:solidFill>
                  <a:srgbClr val="404040"/>
                </a:solidFill>
                <a:latin typeface="Calibri Light" panose="020F0302020204030204" charset="0"/>
                <a:ea typeface="+mn-ea"/>
                <a:cs typeface="+mn-cs"/>
              </a:rPr>
              <a:t>刘城</a:t>
            </a:r>
            <a:r>
              <a:rPr lang="en-US" altLang="zh-CN" kern="1200">
                <a:solidFill>
                  <a:srgbClr val="404040"/>
                </a:solidFill>
                <a:latin typeface="Calibri Light" panose="020F0302020204030204" charset="0"/>
                <a:ea typeface="+mn-ea"/>
                <a:cs typeface="+mn-cs"/>
              </a:rPr>
              <a:t> </a:t>
            </a:r>
            <a:r>
              <a:rPr lang="zh-CN" altLang="en-US" kern="1200">
                <a:solidFill>
                  <a:srgbClr val="404040"/>
                </a:solidFill>
                <a:latin typeface="Calibri Light" panose="020F0302020204030204" charset="0"/>
                <a:ea typeface="+mn-ea"/>
                <a:cs typeface="+mn-cs"/>
              </a:rPr>
              <a:t>张雨欣</a:t>
            </a:r>
            <a:endParaRPr lang="zh-CN" altLang="en-US" kern="1200">
              <a:solidFill>
                <a:srgbClr val="404040"/>
              </a:solidFill>
              <a:latin typeface="Calibri Light" panose="020F0302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目录</a:t>
            </a:r>
            <a:endParaRPr kumimoji="0" lang="zh-CN" altLang="en-US" sz="40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122" name="内容占位符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 anchorCtr="0"/>
          <a:p>
            <a:pPr marL="0" indent="0" defTabSz="914400">
              <a:buFont typeface="Arial" panose="020B0604020202020204" pitchFamily="34" charset="0"/>
              <a:buNone/>
            </a:pPr>
            <a:r>
              <a:rPr lang="en-US" altLang="zh-CN" sz="2800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1.系统整体架构与代码组织</a:t>
            </a:r>
            <a:endParaRPr lang="en-US" altLang="zh-CN" sz="2800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buFont typeface="Arial" panose="020B0604020202020204" pitchFamily="34" charset="0"/>
              <a:buNone/>
            </a:pPr>
            <a:endParaRPr lang="en-US" altLang="zh-CN" sz="2800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buFont typeface="Arial" panose="020B0604020202020204" pitchFamily="34" charset="0"/>
              <a:buNone/>
            </a:pPr>
            <a:r>
              <a:rPr lang="en-US" altLang="zh-CN" sz="2800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2.核心功能实现</a:t>
            </a:r>
            <a:endParaRPr lang="en-US" altLang="zh-CN" sz="2800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buFont typeface="Arial" panose="020B0604020202020204" pitchFamily="34" charset="0"/>
              <a:buNone/>
            </a:pPr>
            <a:endParaRPr lang="en-US" altLang="zh-CN" sz="2800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buFont typeface="Arial" panose="020B0604020202020204" pitchFamily="34" charset="0"/>
              <a:buNone/>
            </a:pPr>
            <a:r>
              <a:rPr lang="en-US" altLang="zh-CN" sz="2800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3.小组分工与</a:t>
            </a:r>
            <a:r>
              <a:rPr lang="zh-CN" altLang="en-US" sz="2800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工作任务</a:t>
            </a:r>
            <a:endParaRPr lang="zh-CN" altLang="en-US" sz="2800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buFont typeface="Arial" panose="020B0604020202020204" pitchFamily="34" charset="0"/>
              <a:buNone/>
            </a:pPr>
            <a:endParaRPr lang="zh-CN" altLang="en-US" sz="2800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buFont typeface="Arial" panose="020B0604020202020204" pitchFamily="34" charset="0"/>
              <a:buNone/>
            </a:pPr>
            <a:r>
              <a:rPr lang="en-US" altLang="zh-CN" sz="2800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4.</a:t>
            </a:r>
            <a:r>
              <a:rPr lang="zh-CN" altLang="en-US" sz="2800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分支提示</a:t>
            </a:r>
            <a:endParaRPr lang="zh-CN" altLang="en-US" sz="2800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+mn-ea"/>
              </a:rPr>
              <a:t>一、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+mn-ea"/>
              </a:rPr>
              <a:t>系统整体架构与代码组织</a:t>
            </a:r>
            <a:endParaRPr kumimoji="0" lang="zh-CN" altLang="en-US" sz="24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146" name="内容占位符 2"/>
          <p:cNvSpPr>
            <a:spLocks noGrp="1"/>
          </p:cNvSpPr>
          <p:nvPr>
            <p:ph idx="1"/>
          </p:nvPr>
        </p:nvSpPr>
        <p:spPr>
          <a:xfrm>
            <a:off x="647700" y="1355725"/>
            <a:ext cx="10515600" cy="4821238"/>
          </a:xfrm>
        </p:spPr>
        <p:txBody>
          <a:bodyPr vert="horz" lIns="91440" tIns="45720" rIns="91440" bIns="45720" anchor="t" anchorCtr="0"/>
          <a:p>
            <a:pPr marL="0" indent="0" defTabSz="914400">
              <a:buFont typeface="Arial" panose="020B0604020202020204" pitchFamily="34" charset="0"/>
              <a:buNone/>
            </a:pP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采用表现层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,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应用逻辑层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,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领域层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,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数据管理层的四层模型</a:t>
            </a: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buFont typeface="Arial" panose="020B0604020202020204" pitchFamily="34" charset="0"/>
              <a:buNone/>
            </a:pP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47700" y="1914525"/>
          <a:ext cx="7980045" cy="3959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3191510"/>
                <a:gridCol w="2426335"/>
              </a:tblGrid>
              <a:tr h="64706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层级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对应代码模块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核心职责</a:t>
                      </a:r>
                      <a:endParaRPr lang="zh-CN" altLang="en-US"/>
                    </a:p>
                  </a:txBody>
                  <a:tcPr/>
                </a:tc>
              </a:tr>
              <a:tr h="8705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表现层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rgbClr val="404040"/>
                          </a:solidFill>
                          <a:sym typeface="+mn-ea"/>
                        </a:rPr>
                        <a:t>registrar:ui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终端交互、菜单展示、输入输出</a:t>
                      </a:r>
                      <a:endParaRPr lang="zh-CN" altLang="en-US"/>
                    </a:p>
                  </a:txBody>
                  <a:tcPr/>
                </a:tc>
              </a:tr>
              <a:tr h="8712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应用逻辑层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rgbClr val="404040"/>
                          </a:solidFill>
                          <a:sym typeface="+mn-ea"/>
                        </a:rPr>
                        <a:t>registrar</a:t>
                      </a:r>
                      <a:endParaRPr lang="zh-CN" altLang="en-US" sz="2800">
                        <a:solidFill>
                          <a:srgbClr val="40404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业务调度、权限控制、流程编排</a:t>
                      </a:r>
                      <a:endParaRPr lang="zh-CN" altLang="en-US"/>
                    </a:p>
                  </a:txBody>
                  <a:tcPr/>
                </a:tc>
              </a:tr>
              <a:tr h="6470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领域层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800">
                          <a:solidFill>
                            <a:srgbClr val="404040"/>
                          </a:solidFill>
                        </a:rPr>
                        <a:t>reg</a:t>
                      </a:r>
                      <a:r>
                        <a:rPr lang="zh-CN" altLang="en-US" sz="2800">
                          <a:solidFill>
                            <a:srgbClr val="404040"/>
                          </a:solidFill>
                          <a:sym typeface="+mn-ea"/>
                        </a:rPr>
                        <a:t>istrar:domain</a:t>
                      </a:r>
                      <a:endParaRPr lang="zh-CN" altLang="en-US" sz="2800">
                        <a:solidFill>
                          <a:srgbClr val="40404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实体定义、业务规则封装</a:t>
                      </a:r>
                      <a:endParaRPr lang="zh-CN" altLang="en-US"/>
                    </a:p>
                  </a:txBody>
                  <a:tcPr/>
                </a:tc>
              </a:tr>
              <a:tr h="92392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数据管理层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rgbClr val="404040"/>
                          </a:solidFill>
                          <a:sym typeface="+mn-ea"/>
                        </a:rPr>
                        <a:t>registrar:dm</a:t>
                      </a:r>
                      <a:endParaRPr lang="zh-CN" altLang="en-US" sz="2800">
                        <a:solidFill>
                          <a:srgbClr val="40404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数据库交互、数据持久化</a:t>
                      </a:r>
                      <a:endParaRPr lang="zh-CN" altLang="en-US" sz="1800" kern="120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类图展示</a:t>
            </a:r>
            <a:endParaRPr lang="zh-CN" altLang="en-US"/>
          </a:p>
        </p:txBody>
      </p:sp>
      <p:pic>
        <p:nvPicPr>
          <p:cNvPr id="4" name="内容占位符 3" descr="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64715" y="684530"/>
            <a:ext cx="6920230" cy="3586480"/>
          </a:xfrm>
          <a:prstGeom prst="rect">
            <a:avLst/>
          </a:prstGeom>
        </p:spPr>
      </p:pic>
      <p:pic>
        <p:nvPicPr>
          <p:cNvPr id="5" name="图片 4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050" y="4271010"/>
            <a:ext cx="5852160" cy="212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kern="1200" cap="none" spc="0" normalizeH="0" baseline="0" noProof="1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代码目录结构</a:t>
            </a:r>
            <a:endParaRPr kumimoji="0" lang="zh-CN" altLang="en-US" sz="2000" b="0" i="0" u="none" strike="noStrike" kern="1200" cap="none" spc="0" normalizeH="0" baseline="0" noProof="1">
              <a:solidFill>
                <a:srgbClr val="4040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8195" name="文本框 4"/>
          <p:cNvSpPr txBox="1"/>
          <p:nvPr/>
        </p:nvSpPr>
        <p:spPr>
          <a:xfrm>
            <a:off x="6383655" y="1771015"/>
            <a:ext cx="4145915" cy="23145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r>
              <a:rPr lang="zh-CN" altLang="en-US">
                <a:latin typeface="Calibri" panose="020F0502020204030204" charset="0"/>
                <a:ea typeface="宋体" pitchFamily="2" charset="-122"/>
              </a:rPr>
              <a:t> </a:t>
            </a:r>
            <a:r>
              <a:rPr lang="en-US" altLang="zh-CN">
                <a:latin typeface="Calibri" panose="020F0502020204030204" charset="0"/>
                <a:ea typeface="宋体" pitchFamily="2" charset="-122"/>
              </a:rPr>
              <a:t> </a:t>
            </a:r>
            <a:endParaRPr lang="en-US" altLang="zh-CN">
              <a:latin typeface="Calibri" panose="020F0502020204030204" charset="0"/>
              <a:ea typeface="宋体" pitchFamily="2" charset="-122"/>
            </a:endParaRPr>
          </a:p>
          <a:p>
            <a:r>
              <a:rPr lang="zh-CN" altLang="en-US" sz="2400">
                <a:latin typeface="Calibri" panose="020F0502020204030204" charset="0"/>
                <a:ea typeface="宋体" pitchFamily="2" charset="-122"/>
              </a:rPr>
              <a:t>小组分工：</a:t>
            </a:r>
            <a:endParaRPr lang="zh-CN" altLang="en-US" sz="2400">
              <a:latin typeface="Calibri" panose="020F0502020204030204" charset="0"/>
              <a:ea typeface="宋体" pitchFamily="2" charset="-122"/>
            </a:endParaRPr>
          </a:p>
          <a:p>
            <a:r>
              <a:rPr lang="en-US" altLang="zh-CN" sz="2400">
                <a:latin typeface="Calibri" panose="020F0502020204030204" charset="0"/>
                <a:ea typeface="宋体" pitchFamily="2" charset="-122"/>
              </a:rPr>
              <a:t>1.</a:t>
            </a:r>
            <a:r>
              <a:rPr lang="zh-CN" altLang="en-US" sz="2400">
                <a:latin typeface="Calibri" panose="020F0502020204030204" charset="0"/>
                <a:ea typeface="宋体" pitchFamily="2" charset="-122"/>
              </a:rPr>
              <a:t>控制层和</a:t>
            </a:r>
            <a:r>
              <a:rPr lang="en-US" altLang="zh-CN" sz="2400">
                <a:latin typeface="Calibri" panose="020F0502020204030204" charset="0"/>
                <a:ea typeface="宋体" pitchFamily="2" charset="-122"/>
              </a:rPr>
              <a:t>ui</a:t>
            </a:r>
            <a:r>
              <a:rPr lang="zh-CN" altLang="en-US" sz="2400">
                <a:latin typeface="Calibri" panose="020F0502020204030204" charset="0"/>
                <a:ea typeface="宋体" pitchFamily="2" charset="-122"/>
              </a:rPr>
              <a:t>层：张雨欣</a:t>
            </a:r>
            <a:endParaRPr lang="zh-CN" altLang="en-US" sz="2400">
              <a:latin typeface="Calibri" panose="020F0502020204030204" charset="0"/>
              <a:ea typeface="宋体" pitchFamily="2" charset="-122"/>
            </a:endParaRPr>
          </a:p>
          <a:p>
            <a:r>
              <a:rPr lang="en-US" altLang="zh-CN" sz="2400">
                <a:latin typeface="Calibri" panose="020F0502020204030204" charset="0"/>
                <a:ea typeface="宋体" pitchFamily="2" charset="-122"/>
              </a:rPr>
              <a:t>2.</a:t>
            </a:r>
            <a:r>
              <a:rPr lang="zh-CN" altLang="en-US" sz="2400">
                <a:latin typeface="Calibri" panose="020F0502020204030204" charset="0"/>
                <a:ea typeface="宋体" pitchFamily="2" charset="-122"/>
              </a:rPr>
              <a:t>领域层（</a:t>
            </a:r>
            <a:r>
              <a:rPr lang="en-US" altLang="zh-CN" sz="2400">
                <a:latin typeface="Calibri" panose="020F0502020204030204" charset="0"/>
                <a:ea typeface="宋体" pitchFamily="2" charset="-122"/>
              </a:rPr>
              <a:t>domain</a:t>
            </a:r>
            <a:r>
              <a:rPr lang="zh-CN" altLang="en-US" sz="2400">
                <a:latin typeface="Calibri" panose="020F0502020204030204" charset="0"/>
                <a:ea typeface="宋体" pitchFamily="2" charset="-122"/>
              </a:rPr>
              <a:t>）：刘城</a:t>
            </a:r>
            <a:endParaRPr lang="zh-CN" altLang="en-US" sz="2400">
              <a:latin typeface="Calibri" panose="020F0502020204030204" charset="0"/>
              <a:ea typeface="宋体" pitchFamily="2" charset="-122"/>
            </a:endParaRPr>
          </a:p>
          <a:p>
            <a:r>
              <a:rPr lang="en-US" altLang="zh-CN" sz="2400">
                <a:latin typeface="Calibri" panose="020F0502020204030204" charset="0"/>
                <a:ea typeface="宋体" pitchFamily="2" charset="-122"/>
              </a:rPr>
              <a:t>3.</a:t>
            </a:r>
            <a:r>
              <a:rPr lang="zh-CN" altLang="en-US" sz="2400">
                <a:latin typeface="Calibri" panose="020F0502020204030204" charset="0"/>
                <a:ea typeface="宋体" pitchFamily="2" charset="-122"/>
              </a:rPr>
              <a:t>数据管理层（</a:t>
            </a:r>
            <a:r>
              <a:rPr lang="en-US" altLang="zh-CN" sz="2400">
                <a:latin typeface="Calibri" panose="020F0502020204030204" charset="0"/>
                <a:ea typeface="宋体" pitchFamily="2" charset="-122"/>
              </a:rPr>
              <a:t>dm</a:t>
            </a:r>
            <a:r>
              <a:rPr lang="zh-CN" altLang="en-US" sz="2400">
                <a:latin typeface="Calibri" panose="020F0502020204030204" charset="0"/>
                <a:ea typeface="宋体" pitchFamily="2" charset="-122"/>
              </a:rPr>
              <a:t>）：苏茜</a:t>
            </a:r>
            <a:endParaRPr lang="zh-CN" altLang="en-US" sz="2400">
              <a:latin typeface="Calibri" panose="020F0502020204030204" charset="0"/>
              <a:ea typeface="宋体" pitchFamily="2" charset="-122"/>
            </a:endParaRPr>
          </a:p>
        </p:txBody>
      </p:sp>
      <p:pic>
        <p:nvPicPr>
          <p:cNvPr id="4" name="内容占位符 3" descr="屏幕截图_20260124_20333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91740" y="1105535"/>
            <a:ext cx="3263265" cy="5343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二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+mn-ea"/>
              </a:rPr>
              <a:t>、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核心功能实现</a:t>
            </a:r>
            <a:endParaRPr kumimoji="0" lang="zh-CN" altLang="en-US" sz="24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253490"/>
            <a:ext cx="10515600" cy="4351338"/>
          </a:xfrm>
        </p:spPr>
        <p:txBody>
          <a:bodyPr>
            <a:normAutofit/>
          </a:bodyPr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三类角色核心功能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771525" y="1677670"/>
          <a:ext cx="7966075" cy="4287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1920"/>
                <a:gridCol w="2649220"/>
                <a:gridCol w="2654935"/>
              </a:tblGrid>
              <a:tr h="914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角色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核心功能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技术细节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11245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学生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登录验证、选课 / 退课、成绩查询、查看课表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先修课检测逻辑。对数据类型精度控制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11239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教师	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登录验证、查看选课学生名单、查看自己被分配的课程、给学生进行打分操作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动态成绩计算，不同角色访问控制操作不同</a:t>
                      </a:r>
                      <a:endParaRPr lang="zh-CN" altLang="en-US"/>
                    </a:p>
                  </a:txBody>
                  <a:tcPr/>
                </a:tc>
              </a:tr>
              <a:tr h="11245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教学秘书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登录验证、增添课程和教师、排课（分配教师以及课程班级）、解决排课冲突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教师 / 课程合法性校验、排课冲突检查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运行结果（程序运行是没问题的）</a:t>
            </a:r>
            <a:endParaRPr lang="zh-CN" altLang="en-US"/>
          </a:p>
        </p:txBody>
      </p:sp>
      <p:pic>
        <p:nvPicPr>
          <p:cNvPr id="4" name="内容占位符 3" descr="屏幕截图_20260124_21280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23645" y="1685925"/>
            <a:ext cx="8582025" cy="4693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三、小组分工</a:t>
            </a:r>
            <a:endParaRPr kumimoji="0" lang="zh-CN" altLang="en-US" sz="24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366520"/>
            <a:ext cx="10515600" cy="4351338"/>
          </a:xfrm>
        </p:spPr>
        <p:txBody>
          <a:bodyPr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1.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刘城（领域层）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负责模块：student.cppm、course.cppm、enrollment.cppm等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核心贡献：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 设计并实现所有业务实体类，封装实体属性与基础业务规则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 明确类间关系与交互逻辑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实现实体自身的业务校验（如学生学分上限、课程容量）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关键代码：Student::enrollCourse()、Course::acceptEnrollment()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开发心得体会：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>
                <a:sym typeface="+mn-ea"/>
              </a:rPr>
              <a:t>领域层的设计是系统核心，将业务需求抽象为实体类的过程，让我对面向对象的 “封装” 和 “继</a:t>
            </a:r>
            <a:r>
              <a:rPr lang="en-US" altLang="zh-CN" sz="1800">
                <a:sym typeface="+mn-ea"/>
              </a:rPr>
              <a:t>  </a:t>
            </a:r>
            <a:r>
              <a:rPr lang="zh-CN" altLang="en-US" sz="1800">
                <a:sym typeface="+mn-ea"/>
              </a:rPr>
              <a:t>承” 有了更深理解。</a:t>
            </a:r>
            <a:endParaRPr lang="zh-CN" altLang="en-US" sz="1800">
              <a:sym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>
                <a:sym typeface="+mn-ea"/>
              </a:rPr>
              <a:t>困难点：</a:t>
            </a:r>
            <a:endParaRPr lang="zh-CN" altLang="en-US" sz="1800">
              <a:sym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>
                <a:sym typeface="+mn-ea"/>
              </a:rPr>
              <a:t>为了解决对象之间存在的循环依赖问题，最后选择访之前的</a:t>
            </a:r>
            <a:r>
              <a:rPr lang="en-US" altLang="zh-CN" sz="1800">
                <a:sym typeface="+mn-ea"/>
              </a:rPr>
              <a:t>registrar</a:t>
            </a:r>
            <a:r>
              <a:rPr lang="zh-CN" altLang="en-US" sz="1800">
                <a:sym typeface="+mn-ea"/>
              </a:rPr>
              <a:t>，封装在</a:t>
            </a:r>
            <a:r>
              <a:rPr lang="en-US" altLang="zh-CN" sz="1800">
                <a:sym typeface="+mn-ea"/>
              </a:rPr>
              <a:t>domain</a:t>
            </a:r>
            <a:r>
              <a:rPr lang="zh-CN" altLang="en-US" sz="1800">
                <a:sym typeface="+mn-ea"/>
              </a:rPr>
              <a:t>里消除差异等</a:t>
            </a:r>
            <a:endParaRPr lang="zh-CN" altLang="en-US" sz="1800"/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5950" y="669925"/>
            <a:ext cx="10547350" cy="5507038"/>
          </a:xfrm>
        </p:spPr>
        <p:txBody>
          <a:bodyPr>
            <a:normAutofit fontScale="90000" lnSpcReduction="10000"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2.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张雨欣（表现层 + 控制层层）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负责模块：ui.cppm、registrar.cppm（负责终端交互和业务流程调度）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核心贡献：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实现终端交互界面，包含主菜单展示、三类角色登录验证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完成Registrar业务调度核心逻辑，串联 UI 与数据层，实现三类角色的功能模块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实现输入合法性校验与用户反馈，提升系统易用性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关键代码：EnrollInUi::showMainMenu()、Registrar::exec()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开发心得：负责控制层让我充当了系统的指挥官。我不仅要处理用户输入，还要协调 各个函数的使用。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>
                <a:sym typeface="+mn-ea"/>
              </a:rPr>
              <a:t>困难点：</a:t>
            </a:r>
            <a:endParaRPr lang="zh-CN" altLang="en-US" sz="1800">
              <a:sym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>
                <a:sym typeface="+mn-ea"/>
              </a:rPr>
              <a:t>1.</a:t>
            </a:r>
            <a:r>
              <a:rPr lang="zh-CN" altLang="en-US" sz="1800">
                <a:sym typeface="+mn-ea"/>
              </a:rPr>
              <a:t>最开始的成绩录入只有期末成绩和期中成绩，但是实际上应该还有作业成绩等</a:t>
            </a:r>
            <a:endParaRPr lang="zh-CN" altLang="en-US" sz="1800">
              <a:sym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>
                <a:sym typeface="+mn-ea"/>
              </a:rPr>
              <a:t>2.</a:t>
            </a:r>
            <a:r>
              <a:rPr lang="zh-CN" altLang="en-US" sz="1800">
                <a:sym typeface="+mn-ea"/>
              </a:rPr>
              <a:t>多角色菜单动态渲染与权限隔离，避免硬编码冗余</a:t>
            </a:r>
            <a:endParaRPr lang="zh-CN" altLang="en-US" sz="1800">
              <a:sym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>
                <a:sym typeface="+mn-ea"/>
              </a:rPr>
              <a:t> </a:t>
            </a:r>
            <a:r>
              <a:rPr lang="en-US" altLang="zh-CN" sz="1800">
                <a:sym typeface="+mn-ea"/>
              </a:rPr>
              <a:t>3.</a:t>
            </a:r>
            <a:r>
              <a:rPr lang="zh-CN" altLang="en-US" sz="1800">
                <a:sym typeface="+mn-ea"/>
              </a:rPr>
              <a:t>终端输入全面校验与友好反馈的平衡</a:t>
            </a:r>
            <a:endParaRPr lang="zh-CN" altLang="en-US" sz="1800">
              <a:sym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>
                <a:sym typeface="+mn-ea"/>
              </a:rPr>
              <a:t> </a:t>
            </a:r>
            <a:r>
              <a:rPr lang="en-US" altLang="zh-CN" sz="1800">
                <a:sym typeface="+mn-ea"/>
              </a:rPr>
              <a:t>4.</a:t>
            </a:r>
            <a:r>
              <a:rPr lang="zh-CN" altLang="en-US" sz="1800">
                <a:sym typeface="+mn-ea"/>
              </a:rPr>
              <a:t>跨层级模块协同调度，解耦业务流程</a:t>
            </a:r>
            <a:endParaRPr lang="zh-CN" altLang="en-US" sz="1800">
              <a:sym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>
                <a:sym typeface="+mn-ea"/>
              </a:rPr>
              <a:t> </a:t>
            </a:r>
            <a:r>
              <a:rPr lang="en-US" altLang="zh-CN" sz="1800">
                <a:sym typeface="+mn-ea"/>
              </a:rPr>
              <a:t>5</a:t>
            </a:r>
            <a:r>
              <a:rPr lang="zh-CN" altLang="en-US" sz="1800">
                <a:sym typeface="+mn-ea"/>
              </a:rPr>
              <a:t>多角色逻辑差异化处理，兼顾复用与扩展</a:t>
            </a:r>
            <a:r>
              <a:rPr lang="zh-CN" altLang="en-US" sz="1800"/>
              <a:t>   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215" y="1118870"/>
            <a:ext cx="10658475" cy="5335905"/>
          </a:xfrm>
        </p:spPr>
        <p:txBody>
          <a:bodyPr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3.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苏茜（数据管理层）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负责模块：studentbroker.cppm、coursebroker.cppm、enrollbroker.cppm等各种代管者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broker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核心贡献：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实现所有Broker数据访问类，封装数据库增删改查操作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采用单例模式与缓存策略，优化数据库交互性能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负责 PostgreSQL 表结构设计与初始化，保证数据一致性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开发心得：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在实现‘智能排课’功能时，我们需要先检测教室是否空闲 ，再插入排课记录 。这两步如果中间出错，会导致数据不一致（显示空闲实际却占了）。通过使用 pqxx::work 事务，将两步包裹在同一个操作中，确保了系统数据的绝对安全。负责数据管理层，让我更深一步认识了代管者模式。认识到单例模式的使用以及缓存策略和有效性的相关检查。受益匪浅。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困难点：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开发时，由于很多逻辑问题，一直在进行删减修改，配合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registrar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层一起修改调试。看需要调用到哪些功能，哪些功能需要更深一步的做检测。不断维护现有功能和新添加的相关的函数以及相关策略。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四</a:t>
            </a:r>
            <a:r>
              <a:rPr lang="en-US" altLang="zh-CN"/>
              <a:t>.</a:t>
            </a:r>
            <a:r>
              <a:rPr lang="zh-CN" altLang="en-US"/>
              <a:t>分支提示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9930" y="1475740"/>
            <a:ext cx="9061450" cy="4351655"/>
          </a:xfrm>
        </p:spPr>
        <p:txBody>
          <a:bodyPr/>
          <a:p>
            <a:pPr marL="0" indent="0">
              <a:buNone/>
            </a:pPr>
            <a:r>
              <a:rPr lang="zh-CN" altLang="en-US"/>
              <a:t>我们组的分支分四个小分支：</a:t>
            </a:r>
            <a:endParaRPr lang="zh-CN" altLang="en-US"/>
          </a:p>
          <a:p>
            <a:r>
              <a:rPr lang="zh-CN" altLang="en-US"/>
              <a:t>创建仓库的人一般发布在</a:t>
            </a:r>
            <a:r>
              <a:rPr lang="en-US" altLang="zh-CN"/>
              <a:t>dev</a:t>
            </a:r>
            <a:r>
              <a:rPr lang="zh-CN" altLang="en-US"/>
              <a:t>分支上，然后另外两个队友在此基础上创建次分支</a:t>
            </a:r>
            <a:r>
              <a:rPr lang="en-US" altLang="zh-CN"/>
              <a:t>——dev1</a:t>
            </a:r>
            <a:r>
              <a:rPr lang="zh-CN" altLang="en-US"/>
              <a:t>和</a:t>
            </a:r>
            <a:r>
              <a:rPr lang="en-US" altLang="zh-CN"/>
              <a:t>dev22</a:t>
            </a:r>
            <a:r>
              <a:rPr lang="zh-CN" altLang="en-US"/>
              <a:t>，包含的是队友（也就是共同创建人）的提交版本。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release</a:t>
            </a:r>
            <a:r>
              <a:rPr lang="zh-CN" altLang="en-US"/>
              <a:t>分支：是发布分支，发布可以运行的程序，但是由于之前没有调试出来但是时间到了，所以第一个版本是不能运行的，但是现在经过这几天的修改，基础功能板块已经是可以运行的版本。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1788</Words>
  <Application>WPS 演示</Application>
  <PresentationFormat>宽屏</PresentationFormat>
  <Paragraphs>147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方正书宋_GBK</vt:lpstr>
      <vt:lpstr>Calibri Light</vt:lpstr>
      <vt:lpstr>微软雅黑</vt:lpstr>
      <vt:lpstr>宋体</vt:lpstr>
      <vt:lpstr>Arial Unicode MS</vt:lpstr>
      <vt:lpstr>WPS</vt:lpstr>
      <vt:lpstr>学生选课管理系统</vt:lpstr>
      <vt:lpstr>目录</vt:lpstr>
      <vt:lpstr>一、系统整体架构与代码组织</vt:lpstr>
      <vt:lpstr>类图展示</vt:lpstr>
      <vt:lpstr>代码目录结构</vt:lpstr>
      <vt:lpstr>二、核心功能实现</vt:lpstr>
      <vt:lpstr>PowerPoint 演示文稿</vt:lpstr>
      <vt:lpstr>三、小组分工</vt:lpstr>
      <vt:lpstr>PowerPoint 演示文稿</vt:lpstr>
      <vt:lpstr>PowerPoint 演示文稿</vt:lpstr>
      <vt:lpstr>四.分支提示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WPS_1697453849</cp:lastModifiedBy>
  <cp:revision>12</cp:revision>
  <dcterms:created xsi:type="dcterms:W3CDTF">2026-01-24T13:29:11Z</dcterms:created>
  <dcterms:modified xsi:type="dcterms:W3CDTF">2026-01-24T13:29:11Z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>5EA64E5DE832971C5EC874699E77377E_43</vt:lpwstr>
  </property>
</Properties>
</file>