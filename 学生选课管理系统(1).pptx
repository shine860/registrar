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3"/>
    <p:sldId id="257" r:id="rId4"/>
    <p:sldId id="263" r:id="rId5"/>
    <p:sldId id="259" r:id="rId6"/>
    <p:sldId id="260" r:id="rId7"/>
    <p:sldId id="261" r:id="rId8"/>
    <p:sldId id="262" r:id="rId9"/>
    <p:sldId id="265" r:id="rId10"/>
    <p:sldId id="267" r:id="rId11"/>
    <p:sldId id="275" r:id="rId12"/>
  </p:sldIdLst>
  <p:sldSz cx="12192000" cy="6858000"/>
  <p:notesSz cx="7104380" cy="1023493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宋体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宋体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宋体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宋体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宋体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宋体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宋体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宋体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2278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1999" cy="71999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pPr fontAlgn="auto"/>
            <a:fld id="{0F9B84EA-7D68-4D60-9CB1-D50884785D1C}" type="datetimeFigureOut">
              <a:rPr lang="zh-CN" altLang="en-US" sz="1245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263"/>
            <a:ext cx="3078163" cy="5143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4313" y="9720263"/>
            <a:ext cx="3078163" cy="5143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pPr fontAlgn="auto"/>
            <a:fld id="{8D4E0FC9-F1F8-4FAE-9988-3BA365CFD46F}" type="slidenum">
              <a:rPr lang="zh-CN" altLang="en-US" sz="1245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auto"/>
            <a:fld id="{D6C8D182-E4C8-4120-9249-FC9774456FFA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076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077" name="备注占位符 4"/>
          <p:cNvSpPr>
            <a:spLocks noGrp="1"/>
          </p:cNvSpPr>
          <p:nvPr>
            <p:ph type="body" sz="quarter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auto"/>
            <a:fld id="{85D0DACE-38E0-42D2-9336-2B707D34BC6D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fontAlgn="auto"/>
            <a:r>
              <a:rPr lang="zh-CN" altLang="en-US" strike="noStrike" noProof="1" dirty="0"/>
              <a:t>单击此处添加标题</a:t>
            </a:r>
            <a:endParaRPr lang="zh-CN" altLang="en-US" strike="noStrike" noProof="1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 dirty="0"/>
              <a:t>单击此处添加副标题</a:t>
            </a:r>
            <a:endParaRPr lang="zh-CN" alt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fontAlgn="auto"/>
            <a:r>
              <a:rPr lang="zh-CN" altLang="en-US" strike="noStrike" noProof="1" dirty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fontAlgn="auto"/>
            <a:r>
              <a:rPr lang="zh-CN" altLang="en-US" strike="noStrike" noProof="1" dirty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fontAlgn="auto"/>
            <a:r>
              <a:rPr lang="zh-CN" altLang="en-US" strike="noStrike" noProof="1" dirty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fontAlgn="auto"/>
            <a:r>
              <a:rPr lang="zh-CN" altLang="en-US" strike="noStrike" noProof="1" dirty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fontAlgn="auto"/>
            <a:r>
              <a:rPr lang="zh-CN" altLang="en-US" strike="noStrike" noProof="1" dirty="0"/>
              <a:t>单击此处编辑标题</a:t>
            </a:r>
            <a:endParaRPr lang="zh-CN" altLang="en-US" strike="noStrike" noProof="1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fontAlgn="auto"/>
            <a:endParaRPr lang="zh-CN" altLang="en-US" strike="noStrike" noProof="1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4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5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6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388"/>
            <a:ext cx="9144000" cy="2187575"/>
          </a:xfrm>
        </p:spPr>
        <p:txBody>
          <a:bodyPr anchor="b">
            <a:normAutofit/>
          </a:bodyPr>
          <a:lstStyle/>
          <a:p>
            <a:pPr marL="0" marR="0" indent="0" algn="ctr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6000" b="0" i="0" u="none" strike="noStrike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学生选课管理系统</a:t>
            </a:r>
            <a:endParaRPr kumimoji="0" lang="zh-CN" altLang="en-US" sz="6000" b="0" i="0" u="none" strike="noStrike" kern="1200" cap="none" spc="0" normalizeH="0" baseline="0" noProof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4098" name="副标题 4"/>
          <p:cNvSpPr>
            <a:spLocks noGrp="1"/>
          </p:cNvSpPr>
          <p:nvPr>
            <p:ph type="subTitle" idx="1" hasCustomPrompt="1"/>
          </p:nvPr>
        </p:nvSpPr>
        <p:spPr/>
        <p:txBody>
          <a:bodyPr vert="horz" lIns="91440" tIns="45720" rIns="91440" bIns="45720" anchor="t" anchorCtr="0"/>
          <a:p>
            <a:pPr defTabSz="914400">
              <a:buClrTx/>
              <a:buSzTx/>
            </a:pPr>
            <a:r>
              <a:rPr lang="zh-CN" altLang="en-US" sz="3200" kern="1200">
                <a:solidFill>
                  <a:srgbClr val="404040"/>
                </a:solidFill>
                <a:latin typeface="Calibri Light" panose="020F0302020204030204" charset="0"/>
                <a:ea typeface="+mn-ea"/>
                <a:cs typeface="+mn-cs"/>
              </a:rPr>
              <a:t>第十四组</a:t>
            </a:r>
            <a:endParaRPr lang="zh-CN" altLang="en-US" sz="3200" kern="1200">
              <a:solidFill>
                <a:srgbClr val="404040"/>
              </a:solidFill>
              <a:latin typeface="Calibri Light" panose="020F0302020204030204" charset="0"/>
              <a:ea typeface="+mn-ea"/>
              <a:cs typeface="+mn-cs"/>
            </a:endParaRPr>
          </a:p>
          <a:p>
            <a:pPr defTabSz="914400">
              <a:buClrTx/>
              <a:buSzTx/>
            </a:pPr>
            <a:r>
              <a:rPr lang="zh-CN" altLang="en-US" kern="1200">
                <a:solidFill>
                  <a:srgbClr val="404040"/>
                </a:solidFill>
                <a:latin typeface="Calibri Light" panose="020F0302020204030204" charset="0"/>
                <a:ea typeface="+mn-ea"/>
                <a:cs typeface="+mn-cs"/>
              </a:rPr>
              <a:t>小组成员</a:t>
            </a:r>
            <a:r>
              <a:rPr lang="en-US" altLang="zh-CN" kern="1200">
                <a:solidFill>
                  <a:srgbClr val="404040"/>
                </a:solidFill>
                <a:latin typeface="Calibri Light" panose="020F0302020204030204" charset="0"/>
                <a:ea typeface="+mn-ea"/>
                <a:cs typeface="+mn-cs"/>
              </a:rPr>
              <a:t>:</a:t>
            </a:r>
            <a:r>
              <a:rPr lang="zh-CN" altLang="en-US" kern="1200">
                <a:solidFill>
                  <a:srgbClr val="404040"/>
                </a:solidFill>
                <a:latin typeface="Calibri Light" panose="020F0302020204030204" charset="0"/>
                <a:ea typeface="+mn-ea"/>
                <a:cs typeface="+mn-cs"/>
              </a:rPr>
              <a:t>苏茜</a:t>
            </a:r>
            <a:r>
              <a:rPr lang="en-US" altLang="zh-CN" kern="1200">
                <a:solidFill>
                  <a:srgbClr val="404040"/>
                </a:solidFill>
                <a:latin typeface="Calibri Light" panose="020F0302020204030204" charset="0"/>
                <a:ea typeface="+mn-ea"/>
                <a:cs typeface="+mn-cs"/>
              </a:rPr>
              <a:t> </a:t>
            </a:r>
            <a:r>
              <a:rPr lang="zh-CN" altLang="en-US" kern="1200">
                <a:solidFill>
                  <a:srgbClr val="404040"/>
                </a:solidFill>
                <a:latin typeface="Calibri Light" panose="020F0302020204030204" charset="0"/>
                <a:ea typeface="+mn-ea"/>
                <a:cs typeface="+mn-cs"/>
              </a:rPr>
              <a:t>刘城</a:t>
            </a:r>
            <a:r>
              <a:rPr lang="en-US" altLang="zh-CN" kern="1200">
                <a:solidFill>
                  <a:srgbClr val="404040"/>
                </a:solidFill>
                <a:latin typeface="Calibri Light" panose="020F0302020204030204" charset="0"/>
                <a:ea typeface="+mn-ea"/>
                <a:cs typeface="+mn-cs"/>
              </a:rPr>
              <a:t> </a:t>
            </a:r>
            <a:r>
              <a:rPr lang="zh-CN" altLang="en-US" kern="1200">
                <a:solidFill>
                  <a:srgbClr val="404040"/>
                </a:solidFill>
                <a:latin typeface="Calibri Light" panose="020F0302020204030204" charset="0"/>
                <a:ea typeface="+mn-ea"/>
                <a:cs typeface="+mn-cs"/>
              </a:rPr>
              <a:t>张雨欣</a:t>
            </a:r>
            <a:endParaRPr lang="zh-CN" altLang="en-US" kern="1200">
              <a:solidFill>
                <a:srgbClr val="404040"/>
              </a:solidFill>
              <a:latin typeface="Calibri Light" panose="020F0302020204030204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763"/>
            <a:ext cx="10515600" cy="1325563"/>
          </a:xfrm>
        </p:spPr>
        <p:txBody>
          <a:bodyPr anchor="ctr" anchorCtr="0">
            <a:normAutofit/>
          </a:bodyPr>
          <a:p>
            <a: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400" b="1" i="0" u="none" strike="noStrike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  <a:sym typeface="+mn-ea"/>
              </a:rPr>
              <a:t>一、</a:t>
            </a:r>
            <a:r>
              <a:rPr kumimoji="0" lang="en-US" altLang="zh-CN" sz="2400" b="1" i="0" u="none" strike="noStrike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  <a:sym typeface="+mn-ea"/>
              </a:rPr>
              <a:t>系统整体架构与代码组织</a:t>
            </a:r>
            <a:endParaRPr kumimoji="0" lang="zh-CN" altLang="en-US" sz="2400" b="1" i="0" u="none" strike="noStrike" kern="1200" cap="none" spc="0" normalizeH="0" baseline="0" noProof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6146" name="内容占位符 2"/>
          <p:cNvSpPr>
            <a:spLocks noGrp="1"/>
          </p:cNvSpPr>
          <p:nvPr>
            <p:ph idx="1"/>
          </p:nvPr>
        </p:nvSpPr>
        <p:spPr>
          <a:xfrm>
            <a:off x="647700" y="1355725"/>
            <a:ext cx="10515600" cy="4821238"/>
          </a:xfrm>
        </p:spPr>
        <p:txBody>
          <a:bodyPr vert="horz" lIns="91440" tIns="45720" rIns="91440" bIns="45720" anchor="t" anchorCtr="0"/>
          <a:p>
            <a:pPr marL="0" indent="0" defTabSz="914400">
              <a:buFont typeface="Arial" panose="020B0604020202020204" pitchFamily="34" charset="0"/>
              <a:buNone/>
            </a:pPr>
            <a:r>
              <a:rPr lang="zh-CN" altLang="en-US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采用表现层→应用逻辑层→领域层→数据管理层的四层模型</a:t>
            </a:r>
            <a:endParaRPr lang="zh-CN" altLang="en-US" kern="1200">
              <a:solidFill>
                <a:srgbClr val="404040"/>
              </a:solidFill>
              <a:latin typeface="+mn-lt"/>
              <a:ea typeface="+mn-ea"/>
              <a:cs typeface="+mn-cs"/>
            </a:endParaRPr>
          </a:p>
          <a:p>
            <a:pPr marL="0" indent="0" defTabSz="914400">
              <a:buFont typeface="Arial" panose="020B0604020202020204" pitchFamily="34" charset="0"/>
              <a:buNone/>
            </a:pPr>
            <a:endParaRPr lang="zh-CN" altLang="en-US" kern="1200">
              <a:solidFill>
                <a:srgbClr val="404040"/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47700" y="1914525"/>
          <a:ext cx="7980045" cy="3959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2200"/>
                <a:gridCol w="3191510"/>
                <a:gridCol w="2426335"/>
              </a:tblGrid>
              <a:tr h="647065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  <a:p>
                      <a:pPr>
                        <a:buNone/>
                      </a:pPr>
                      <a:r>
                        <a:rPr lang="zh-CN" altLang="en-US"/>
                        <a:t>层级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  <a:p>
                      <a:pPr>
                        <a:buNone/>
                      </a:pPr>
                      <a:r>
                        <a:rPr lang="zh-CN" altLang="en-US"/>
                        <a:t>对应代码模块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  <a:p>
                      <a:pPr>
                        <a:buNone/>
                      </a:pPr>
                      <a:r>
                        <a:rPr lang="zh-CN" altLang="en-US"/>
                        <a:t>核心职责</a:t>
                      </a:r>
                      <a:endParaRPr lang="zh-CN" altLang="en-US"/>
                    </a:p>
                  </a:txBody>
                  <a:tcPr/>
                </a:tc>
              </a:tr>
              <a:tr h="87058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olidFill>
                            <a:srgbClr val="404040"/>
                          </a:solidFill>
                          <a:sym typeface="+mn-ea"/>
                        </a:rPr>
                        <a:t>表现层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>
                          <a:solidFill>
                            <a:srgbClr val="404040"/>
                          </a:solidFill>
                          <a:sym typeface="+mn-ea"/>
                        </a:rPr>
                        <a:t>registrar:ui</a:t>
                      </a:r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olidFill>
                            <a:srgbClr val="404040"/>
                          </a:solidFill>
                          <a:sym typeface="+mn-ea"/>
                        </a:rPr>
                        <a:t>终端交互、菜单展示、输入输出</a:t>
                      </a:r>
                      <a:endParaRPr lang="zh-CN" altLang="en-US"/>
                    </a:p>
                  </a:txBody>
                  <a:tcPr/>
                </a:tc>
              </a:tr>
              <a:tr h="87122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控制层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>
                          <a:solidFill>
                            <a:srgbClr val="404040"/>
                          </a:solidFill>
                          <a:sym typeface="+mn-ea"/>
                        </a:rPr>
                        <a:t>registrar</a:t>
                      </a:r>
                      <a:endParaRPr lang="zh-CN" altLang="en-US" sz="2800">
                        <a:solidFill>
                          <a:srgbClr val="40404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olidFill>
                            <a:srgbClr val="404040"/>
                          </a:solidFill>
                          <a:sym typeface="+mn-ea"/>
                        </a:rPr>
                        <a:t>业务调度、权限控制、流程编排</a:t>
                      </a:r>
                      <a:endParaRPr lang="zh-CN" altLang="en-US"/>
                    </a:p>
                  </a:txBody>
                  <a:tcPr/>
                </a:tc>
              </a:tr>
              <a:tr h="64706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olidFill>
                            <a:srgbClr val="404040"/>
                          </a:solidFill>
                          <a:sym typeface="+mn-ea"/>
                        </a:rPr>
                        <a:t>领域层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2800">
                          <a:solidFill>
                            <a:srgbClr val="404040"/>
                          </a:solidFill>
                        </a:rPr>
                        <a:t>reg</a:t>
                      </a:r>
                      <a:r>
                        <a:rPr lang="zh-CN" altLang="en-US" sz="2800">
                          <a:solidFill>
                            <a:srgbClr val="404040"/>
                          </a:solidFill>
                          <a:sym typeface="+mn-ea"/>
                        </a:rPr>
                        <a:t>istrar:domain</a:t>
                      </a:r>
                      <a:endParaRPr lang="zh-CN" altLang="en-US" sz="2800">
                        <a:solidFill>
                          <a:srgbClr val="40404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olidFill>
                            <a:srgbClr val="404040"/>
                          </a:solidFill>
                          <a:sym typeface="+mn-ea"/>
                        </a:rPr>
                        <a:t>实体定义、业务规则封装</a:t>
                      </a:r>
                      <a:endParaRPr lang="zh-CN" altLang="en-US"/>
                    </a:p>
                  </a:txBody>
                  <a:tcPr/>
                </a:tc>
              </a:tr>
              <a:tr h="92392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olidFill>
                            <a:srgbClr val="404040"/>
                          </a:solidFill>
                          <a:sym typeface="+mn-ea"/>
                        </a:rPr>
                        <a:t>数据管理层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>
                          <a:solidFill>
                            <a:srgbClr val="404040"/>
                          </a:solidFill>
                          <a:sym typeface="+mn-ea"/>
                        </a:rPr>
                        <a:t>registrar:dm</a:t>
                      </a:r>
                      <a:endParaRPr lang="zh-CN" altLang="en-US" sz="2800">
                        <a:solidFill>
                          <a:srgbClr val="40404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olidFill>
                            <a:srgbClr val="404040"/>
                          </a:solidFill>
                          <a:sym typeface="+mn-ea"/>
                        </a:rPr>
                        <a:t>数据库交互、数据持久化</a:t>
                      </a:r>
                      <a:endParaRPr lang="zh-CN" altLang="en-US" sz="1800" kern="1200">
                        <a:solidFill>
                          <a:srgbClr val="40404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763"/>
            <a:ext cx="10515600" cy="1325563"/>
          </a:xfrm>
        </p:spPr>
        <p:txBody>
          <a:bodyPr anchor="ctr" anchorCtr="0">
            <a:normAutofit/>
          </a:bodyPr>
          <a:p>
            <a: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b="0" i="0" u="none" strike="noStrike" kern="1200" cap="none" spc="0" normalizeH="0" baseline="0" noProof="1">
                <a:solidFill>
                  <a:srgbClr val="4040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类图设计</a:t>
            </a:r>
            <a:endParaRPr kumimoji="0" lang="zh-CN" altLang="en-US" sz="2000" b="0" i="0" u="none" strike="noStrike" kern="1200" cap="none" spc="0" normalizeH="0" baseline="0" noProof="1">
              <a:solidFill>
                <a:srgbClr val="40404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endParaRPr>
          </a:p>
        </p:txBody>
      </p:sp>
      <p:pic>
        <p:nvPicPr>
          <p:cNvPr id="3" name="内容占位符 2" descr="微信图片_2026-01-20_220105_88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691765" y="728980"/>
            <a:ext cx="6952615" cy="4033520"/>
          </a:xfrm>
          <a:prstGeom prst="rect">
            <a:avLst/>
          </a:prstGeom>
        </p:spPr>
      </p:pic>
      <p:pic>
        <p:nvPicPr>
          <p:cNvPr id="4" name="图片 3" descr="微信图片_2026-01-20_220157_07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9120" y="4100830"/>
            <a:ext cx="4565015" cy="14249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763"/>
            <a:ext cx="10515600" cy="1325563"/>
          </a:xfrm>
        </p:spPr>
        <p:txBody>
          <a:bodyPr anchor="ctr" anchorCtr="0">
            <a:normAutofit/>
          </a:bodyPr>
          <a:p>
            <a: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b="0" i="0" u="none" strike="noStrike" kern="1200" cap="none" spc="0" normalizeH="0" baseline="0" noProof="1">
                <a:solidFill>
                  <a:srgbClr val="4040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代码目录结构</a:t>
            </a:r>
            <a:endParaRPr kumimoji="0" lang="zh-CN" altLang="en-US" sz="2000" b="0" i="0" u="none" strike="noStrike" kern="1200" cap="none" spc="0" normalizeH="0" baseline="0" noProof="1">
              <a:solidFill>
                <a:srgbClr val="40404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endParaRPr>
          </a:p>
        </p:txBody>
      </p:sp>
      <p:pic>
        <p:nvPicPr>
          <p:cNvPr id="8194" name="内容占位符 3" descr="目录结构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03275" y="1425575"/>
            <a:ext cx="3638550" cy="2257425"/>
          </a:xfrm>
        </p:spPr>
      </p:pic>
      <p:sp>
        <p:nvSpPr>
          <p:cNvPr id="8195" name="文本框 4"/>
          <p:cNvSpPr txBox="1"/>
          <p:nvPr/>
        </p:nvSpPr>
        <p:spPr>
          <a:xfrm>
            <a:off x="5003800" y="1368425"/>
            <a:ext cx="3490913" cy="23145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/>
          <a:p>
            <a:r>
              <a:rPr lang="zh-CN" altLang="en-US">
                <a:latin typeface="Calibri" panose="020F0502020204030204" charset="0"/>
                <a:ea typeface="宋体" pitchFamily="2" charset="-122"/>
              </a:rPr>
              <a:t> </a:t>
            </a:r>
            <a:r>
              <a:rPr lang="en-US" altLang="zh-CN">
                <a:latin typeface="Calibri" panose="020F0502020204030204" charset="0"/>
                <a:ea typeface="宋体" pitchFamily="2" charset="-122"/>
              </a:rPr>
              <a:t> </a:t>
            </a:r>
            <a:endParaRPr lang="en-US" altLang="zh-CN">
              <a:latin typeface="Calibri" panose="020F0502020204030204" charset="0"/>
              <a:ea typeface="宋体" pitchFamily="2" charset="-122"/>
            </a:endParaRPr>
          </a:p>
          <a:p>
            <a:r>
              <a:rPr lang="en-US" altLang="zh-CN">
                <a:latin typeface="Calibri" panose="020F0502020204030204" charset="0"/>
                <a:ea typeface="宋体" pitchFamily="2" charset="-122"/>
              </a:rPr>
              <a:t>  </a:t>
            </a:r>
            <a:r>
              <a:rPr lang="zh-CN" altLang="en-US">
                <a:latin typeface="Calibri" panose="020F0502020204030204" charset="0"/>
                <a:ea typeface="宋体" pitchFamily="2" charset="-122"/>
              </a:rPr>
              <a:t># 应用逻辑层（张雨欣）</a:t>
            </a:r>
            <a:endParaRPr lang="zh-CN" altLang="en-US">
              <a:latin typeface="Calibri" panose="020F0502020204030204" charset="0"/>
              <a:ea typeface="宋体" pitchFamily="2" charset="-122"/>
            </a:endParaRPr>
          </a:p>
          <a:p>
            <a:endParaRPr lang="zh-CN" altLang="en-US">
              <a:latin typeface="Calibri" panose="020F0502020204030204" charset="0"/>
              <a:ea typeface="宋体" pitchFamily="2" charset="-122"/>
            </a:endParaRPr>
          </a:p>
          <a:p>
            <a:r>
              <a:rPr lang="zh-CN" altLang="en-US">
                <a:latin typeface="Calibri" panose="020F0502020204030204" charset="0"/>
                <a:ea typeface="宋体" pitchFamily="2" charset="-122"/>
              </a:rPr>
              <a:t>  # 数据管理层（苏茜）</a:t>
            </a:r>
            <a:endParaRPr lang="zh-CN" altLang="en-US">
              <a:latin typeface="Calibri" panose="020F0502020204030204" charset="0"/>
              <a:ea typeface="宋体" pitchFamily="2" charset="-122"/>
            </a:endParaRPr>
          </a:p>
          <a:p>
            <a:endParaRPr lang="zh-CN" altLang="en-US">
              <a:latin typeface="Calibri" panose="020F0502020204030204" charset="0"/>
              <a:ea typeface="宋体" pitchFamily="2" charset="-122"/>
            </a:endParaRPr>
          </a:p>
          <a:p>
            <a:r>
              <a:rPr lang="zh-CN" altLang="en-US">
                <a:latin typeface="Calibri" panose="020F0502020204030204" charset="0"/>
                <a:ea typeface="宋体" pitchFamily="2" charset="-122"/>
              </a:rPr>
              <a:t>  # 领域层（刘城）</a:t>
            </a:r>
            <a:endParaRPr lang="zh-CN" altLang="en-US">
              <a:latin typeface="Calibri" panose="020F0502020204030204" charset="0"/>
              <a:ea typeface="宋体" pitchFamily="2" charset="-122"/>
            </a:endParaRPr>
          </a:p>
          <a:p>
            <a:endParaRPr lang="zh-CN" altLang="en-US">
              <a:latin typeface="Calibri" panose="020F0502020204030204" charset="0"/>
              <a:ea typeface="宋体" pitchFamily="2" charset="-122"/>
            </a:endParaRPr>
          </a:p>
          <a:p>
            <a:r>
              <a:rPr lang="zh-CN" altLang="en-US">
                <a:latin typeface="Calibri" panose="020F0502020204030204" charset="0"/>
                <a:ea typeface="宋体" pitchFamily="2" charset="-122"/>
              </a:rPr>
              <a:t>  # 表现层（张雨欣）</a:t>
            </a:r>
            <a:endParaRPr lang="zh-CN" altLang="en-US">
              <a:latin typeface="Calibri" panose="020F0502020204030204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763"/>
            <a:ext cx="10515600" cy="1325563"/>
          </a:xfrm>
        </p:spPr>
        <p:txBody>
          <a:bodyPr anchor="ctr" anchorCtr="0">
            <a:normAutofit/>
          </a:bodyPr>
          <a:p>
            <a: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400" b="1" i="0" u="none" strike="noStrike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二</a:t>
            </a:r>
            <a:r>
              <a:rPr kumimoji="0" lang="zh-CN" altLang="en-US" sz="2400" b="1" i="0" u="none" strike="noStrike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  <a:sym typeface="+mn-ea"/>
              </a:rPr>
              <a:t>、</a:t>
            </a:r>
            <a:r>
              <a:rPr kumimoji="0" lang="zh-CN" altLang="en-US" sz="2400" b="1" i="0" u="none" strike="noStrike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核心功能实现</a:t>
            </a:r>
            <a:endParaRPr kumimoji="0" lang="zh-CN" altLang="en-US" sz="2400" b="1" i="0" u="none" strike="noStrike" kern="1200" cap="none" spc="0" normalizeH="0" baseline="0" noProof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zh-CN" altLang="en-US" sz="2000" b="0" i="0" u="none" strike="noStrike" kern="1200" cap="none" spc="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三类角色核心功能</a:t>
            </a:r>
            <a:endParaRPr kumimoji="0" lang="zh-CN" altLang="en-US" sz="2000" b="0" i="0" u="none" strike="noStrike" kern="1200" cap="none" spc="0" normalizeH="0" baseline="0" noProof="1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2000" b="0" i="0" u="none" strike="noStrike" kern="1200" cap="none" spc="0" normalizeH="0" baseline="0" noProof="1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771525" y="2276475"/>
          <a:ext cx="7966075" cy="42878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1920"/>
                <a:gridCol w="2649220"/>
                <a:gridCol w="2654935"/>
              </a:tblGrid>
              <a:tr h="914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角色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800"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核心功能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800"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技术细节</a:t>
                      </a:r>
                      <a:endParaRPr lang="zh-CN" altLang="en-US" sz="1800"/>
                    </a:p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112458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学生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选课 / 退课、成绩查询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先修课校验、学分上限校验、课程容量校验</a:t>
                      </a:r>
                      <a:endParaRPr lang="zh-CN" altLang="en-US" sz="1800"/>
                    </a:p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112395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教师	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查看选课名单、成绩录入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成绩合法性校验、已录入成绩禁止退课</a:t>
                      </a:r>
                      <a:endParaRPr lang="zh-CN" altLang="en-US" sz="1800"/>
                    </a:p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112458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教学秘书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课程管理、教师分配、排课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教师 / 课程合法性校验、排课冲突检</a:t>
                      </a:r>
                      <a:endParaRPr lang="zh-CN" altLang="en-US" sz="1800"/>
                    </a:p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763"/>
            <a:ext cx="10515600" cy="1325563"/>
          </a:xfrm>
        </p:spPr>
        <p:txBody>
          <a:bodyPr anchor="ctr" anchorCtr="0">
            <a:normAutofit/>
          </a:bodyPr>
          <a:p>
            <a: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zh-CN" altLang="en-US" sz="2000" b="0" i="0" u="none" strike="noStrike" kern="1200" cap="none" spc="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  <a:sym typeface="+mn-ea"/>
              </a:rPr>
              <a:t> 核心业务流程：学生选课</a:t>
            </a:r>
            <a:endParaRPr kumimoji="0" lang="zh-CN" altLang="en-US" sz="2000" b="0" i="0" u="none" strike="noStrike" kern="1200" cap="none" spc="0" normalizeH="0" baseline="0" noProof="1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104900"/>
            <a:ext cx="8782050" cy="2678113"/>
          </a:xfrm>
        </p:spPr>
        <p:txBody>
          <a:bodyPr>
            <a:normAutofit/>
          </a:bodyPr>
          <a:p>
            <a: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2000" b="0" i="0" u="none" strike="noStrike" kern="1200" cap="none" spc="0" normalizeH="0" baseline="0" noProof="1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  <a:p>
            <a: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zh-CN" altLang="en-US" sz="2000" b="0" i="0" u="none" strike="noStrike" kern="1200" cap="none" spc="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    UI 层接收选课请求 → Registrar调度业务逻辑</a:t>
            </a:r>
            <a:endParaRPr kumimoji="0" lang="zh-CN" altLang="en-US" sz="2000" b="0" i="0" u="none" strike="noStrike" kern="1200" cap="none" spc="0" normalizeH="0" baseline="0" noProof="1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  <a:p>
            <a: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zh-CN" altLang="en-US" sz="2000" b="0" i="0" u="none" strike="noStrike" kern="1200" cap="none" spc="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    调用EnrollmentBroker校验：学生 / 课程存在性、先修课、容量、重复选课</a:t>
            </a:r>
            <a:endParaRPr kumimoji="0" lang="zh-CN" altLang="en-US" sz="2000" b="0" i="0" u="none" strike="noStrike" kern="1200" cap="none" spc="0" normalizeH="0" baseline="0" noProof="1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  <a:p>
            <a: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zh-CN" altLang="en-US" sz="2000" b="0" i="0" u="none" strike="noStrike" kern="1200" cap="none" spc="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    校验通过后插入Enrollment记录，更新缓存</a:t>
            </a:r>
            <a:endParaRPr kumimoji="0" lang="zh-CN" altLang="en-US" sz="2000" b="0" i="0" u="none" strike="noStrike" kern="1200" cap="none" spc="0" normalizeH="0" baseline="0" noProof="1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  <a:p>
            <a: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zh-CN" altLang="en-US" sz="2000" b="0" i="0" u="none" strike="noStrike" kern="1200" cap="none" spc="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    返回结果至 UI 层，提示选课成功</a:t>
            </a:r>
            <a:endParaRPr kumimoji="0" lang="zh-CN" altLang="en-US" sz="2000" b="0" i="0" u="none" strike="noStrike" kern="1200" cap="none" spc="0" normalizeH="0" baseline="0" noProof="1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763"/>
            <a:ext cx="10515600" cy="1325563"/>
          </a:xfrm>
        </p:spPr>
        <p:txBody>
          <a:bodyPr anchor="ctr" anchorCtr="0">
            <a:normAutofit/>
          </a:bodyPr>
          <a:p>
            <a: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400" b="1" i="0" u="none" strike="noStrike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三、小组分工</a:t>
            </a:r>
            <a:endParaRPr kumimoji="0" lang="zh-CN" altLang="en-US" sz="2400" b="1" i="0" u="none" strike="noStrike" kern="1200" cap="none" spc="0" normalizeH="0" baseline="0" noProof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2000" b="0" i="0" u="none" strike="noStrike" kern="1200" cap="none" spc="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  <a:sym typeface="+mn-ea"/>
              </a:rPr>
              <a:t>刘城（领域层）</a:t>
            </a:r>
            <a:endParaRPr kumimoji="0" lang="zh-CN" altLang="en-US" sz="2000" b="0" i="0" u="none" strike="noStrike" kern="1200" cap="none" spc="0" normalizeH="0" baseline="0" noProof="1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2000" b="0" i="0" u="none" strike="noStrike" kern="1200" cap="none" spc="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  <a:sym typeface="+mn-ea"/>
              </a:rPr>
              <a:t>负责模块：student.cppm、course.cppm、enrollment.cppm等</a:t>
            </a:r>
            <a:endParaRPr kumimoji="0" lang="zh-CN" altLang="en-US" sz="2000" b="0" i="0" u="none" strike="noStrike" kern="1200" cap="none" spc="0" normalizeH="0" baseline="0" noProof="1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2000" b="0" i="0" u="none" strike="noStrike" kern="1200" cap="none" spc="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  <a:sym typeface="+mn-ea"/>
              </a:rPr>
              <a:t>核心贡献：</a:t>
            </a:r>
            <a:endParaRPr kumimoji="0" lang="zh-CN" altLang="en-US" sz="2000" b="0" i="0" u="none" strike="noStrike" kern="1200" cap="none" spc="0" normalizeH="0" baseline="0" noProof="1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  <a:p>
            <a: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+mj-ea"/>
              <a:buAutoNum type="circleNumDbPlain"/>
            </a:pPr>
            <a:r>
              <a:rPr kumimoji="0" lang="zh-CN" altLang="en-US" sz="2000" b="0" i="0" u="none" strike="noStrike" kern="1200" cap="none" spc="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  <a:sym typeface="+mn-ea"/>
              </a:rPr>
              <a:t> 设计并实现所有业务实体类，封装实体属性与基础业务规则</a:t>
            </a:r>
            <a:endParaRPr kumimoji="0" lang="zh-CN" altLang="en-US" sz="2000" b="0" i="0" u="none" strike="noStrike" kern="1200" cap="none" spc="0" normalizeH="0" baseline="0" noProof="1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  <a:p>
            <a: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+mj-ea"/>
              <a:buAutoNum type="circleNumDbPlain"/>
            </a:pPr>
            <a:r>
              <a:rPr kumimoji="0" lang="zh-CN" altLang="en-US" sz="2000" b="0" i="0" u="none" strike="noStrike" kern="1200" cap="none" spc="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  <a:sym typeface="+mn-ea"/>
              </a:rPr>
              <a:t> 明确类间关系与交互逻辑</a:t>
            </a:r>
            <a:endParaRPr kumimoji="0" lang="zh-CN" altLang="en-US" sz="2000" b="0" i="0" u="none" strike="noStrike" kern="1200" cap="none" spc="0" normalizeH="0" baseline="0" noProof="1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  <a:p>
            <a: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+mj-ea"/>
              <a:buAutoNum type="circleNumDbPlain"/>
            </a:pPr>
            <a:r>
              <a:rPr kumimoji="0" lang="en-US" altLang="zh-CN" sz="2000" b="0" i="0" u="none" strike="noStrike" kern="1200" cap="none" spc="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  <a:sym typeface="+mn-ea"/>
              </a:rPr>
              <a:t> </a:t>
            </a:r>
            <a:r>
              <a:rPr kumimoji="0" lang="zh-CN" altLang="en-US" sz="2000" b="0" i="0" u="none" strike="noStrike" kern="1200" cap="none" spc="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  <a:sym typeface="+mn-ea"/>
              </a:rPr>
              <a:t>实现实体自身的业务校验（如学生学分上限、课程容量）</a:t>
            </a:r>
            <a:endParaRPr kumimoji="0" lang="zh-CN" altLang="en-US" sz="2000" b="0" i="0" u="none" strike="noStrike" kern="1200" cap="none" spc="0" normalizeH="0" baseline="0" noProof="1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2000" b="0" i="0" u="none" strike="noStrike" kern="1200" cap="none" spc="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  <a:sym typeface="+mn-ea"/>
              </a:rPr>
              <a:t>关键代码：Student::enrollCourse()、Course::acceptEnrollment()</a:t>
            </a:r>
            <a:endParaRPr kumimoji="0" lang="zh-CN" altLang="en-US" sz="2000" b="0" i="0" u="none" strike="noStrike" kern="1200" cap="none" spc="0" normalizeH="0" baseline="0" noProof="1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  <a:p>
            <a: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zh-CN" altLang="en-US" sz="2000" b="0" i="0" u="none" strike="noStrike" kern="1200" cap="none" spc="0" normalizeH="0" baseline="0" noProof="1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5950" y="669925"/>
            <a:ext cx="10547350" cy="5507038"/>
          </a:xfrm>
        </p:spPr>
        <p:txBody>
          <a:bodyPr>
            <a:normAutofit/>
          </a:bodyPr>
          <a:p>
            <a: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2000" b="0" i="0" u="none" strike="noStrike" kern="1200" cap="none" spc="0" normalizeH="0" baseline="0" noProof="1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2000" b="0" i="0" u="none" strike="noStrike" kern="1200" cap="none" spc="0" normalizeH="0" baseline="0" noProof="1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2000" b="0" i="0" u="none" strike="noStrike" kern="1200" cap="none" spc="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张雨欣（表现层 + 应用逻辑层）</a:t>
            </a:r>
            <a:endParaRPr kumimoji="0" lang="zh-CN" altLang="en-US" sz="2000" b="0" i="0" u="none" strike="noStrike" kern="1200" cap="none" spc="0" normalizeH="0" baseline="0" noProof="1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2000" b="0" i="0" u="none" strike="noStrike" kern="1200" cap="none" spc="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 负责模块：ui.cppm、registrar.cppm</a:t>
            </a:r>
            <a:endParaRPr kumimoji="0" lang="zh-CN" altLang="en-US" sz="2000" b="0" i="0" u="none" strike="noStrike" kern="1200" cap="none" spc="0" normalizeH="0" baseline="0" noProof="1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2000" b="0" i="0" u="none" strike="noStrike" kern="1200" cap="none" spc="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 核心贡献：</a:t>
            </a:r>
            <a:endParaRPr kumimoji="0" lang="zh-CN" altLang="en-US" sz="2000" b="0" i="0" u="none" strike="noStrike" kern="1200" cap="none" spc="0" normalizeH="0" baseline="0" noProof="1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  <a:p>
            <a: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+mj-ea"/>
              <a:buAutoNum type="circleNumDbPlain"/>
            </a:pPr>
            <a:r>
              <a:rPr kumimoji="0" lang="zh-CN" altLang="en-US" sz="2000" b="0" i="0" u="none" strike="noStrike" kern="1200" cap="none" spc="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实现终端交互界面，包含主菜单展示、三类角色登录验证</a:t>
            </a:r>
            <a:endParaRPr kumimoji="0" lang="zh-CN" altLang="en-US" sz="2000" b="0" i="0" u="none" strike="noStrike" kern="1200" cap="none" spc="0" normalizeH="0" baseline="0" noProof="1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  <a:p>
            <a: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+mj-ea"/>
              <a:buAutoNum type="circleNumDbPlain"/>
            </a:pPr>
            <a:r>
              <a:rPr kumimoji="0" lang="zh-CN" altLang="en-US" sz="2000" b="0" i="0" u="none" strike="noStrike" kern="1200" cap="none" spc="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完成Registrar业务调度核心逻辑，串联 UI 与数据层</a:t>
            </a:r>
            <a:endParaRPr kumimoji="0" lang="zh-CN" altLang="en-US" sz="2000" b="0" i="0" u="none" strike="noStrike" kern="1200" cap="none" spc="0" normalizeH="0" baseline="0" noProof="1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  <a:p>
            <a: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+mj-ea"/>
              <a:buAutoNum type="circleNumDbPlain"/>
            </a:pPr>
            <a:r>
              <a:rPr kumimoji="0" lang="zh-CN" altLang="en-US" sz="2000" b="0" i="0" u="none" strike="noStrike" kern="1200" cap="none" spc="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实现输入合法性校验与用户反馈，提升系统易用性</a:t>
            </a:r>
            <a:endParaRPr kumimoji="0" lang="zh-CN" altLang="en-US" sz="2000" b="0" i="0" u="none" strike="noStrike" kern="1200" cap="none" spc="0" normalizeH="0" baseline="0" noProof="1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2000" b="0" i="0" u="none" strike="noStrike" kern="1200" cap="none" spc="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 关键代码：EnrollInUi::showMainMenu()、Registrar::exec()</a:t>
            </a:r>
            <a:endParaRPr kumimoji="0" lang="zh-CN" altLang="en-US" sz="2000" b="0" i="0" u="none" strike="noStrike" kern="1200" cap="none" spc="0" normalizeH="0" baseline="0" noProof="1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4825" y="1214438"/>
            <a:ext cx="10658475" cy="4962525"/>
          </a:xfrm>
        </p:spPr>
        <p:txBody>
          <a:bodyPr>
            <a:normAutofit/>
          </a:bodyPr>
          <a:p>
            <a: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2000" b="0" i="0" u="none" strike="noStrike" kern="1200" cap="none" spc="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苏茜（数据管理层）</a:t>
            </a:r>
            <a:endParaRPr kumimoji="0" lang="zh-CN" altLang="en-US" sz="2000" b="0" i="0" u="none" strike="noStrike" kern="1200" cap="none" spc="0" normalizeH="0" baseline="0" noProof="1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2000" b="0" i="0" u="none" strike="noStrike" kern="1200" cap="none" spc="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负责模块：studentbroker.cppm、coursebroker.cppm、enrollbroker.cppm等</a:t>
            </a:r>
            <a:endParaRPr kumimoji="0" lang="zh-CN" altLang="en-US" sz="2000" b="0" i="0" u="none" strike="noStrike" kern="1200" cap="none" spc="0" normalizeH="0" baseline="0" noProof="1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2000" b="0" i="0" u="none" strike="noStrike" kern="1200" cap="none" spc="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核心贡献：</a:t>
            </a:r>
            <a:endParaRPr kumimoji="0" lang="zh-CN" altLang="en-US" sz="2000" b="0" i="0" u="none" strike="noStrike" kern="1200" cap="none" spc="0" normalizeH="0" baseline="0" noProof="1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  <a:p>
            <a: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+mj-ea"/>
              <a:buAutoNum type="circleNumDbPlain"/>
            </a:pPr>
            <a:r>
              <a:rPr kumimoji="0" lang="zh-CN" altLang="en-US" sz="2000" b="0" i="0" u="none" strike="noStrike" kern="1200" cap="none" spc="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实现所有Broker数据访问类，封装数据库增删改查操作</a:t>
            </a:r>
            <a:endParaRPr kumimoji="0" lang="zh-CN" altLang="en-US" sz="2000" b="0" i="0" u="none" strike="noStrike" kern="1200" cap="none" spc="0" normalizeH="0" baseline="0" noProof="1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  <a:p>
            <a: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+mj-ea"/>
              <a:buAutoNum type="circleNumDbPlain"/>
            </a:pPr>
            <a:r>
              <a:rPr kumimoji="0" lang="zh-CN" altLang="en-US" sz="2000" b="0" i="0" u="none" strike="noStrike" kern="1200" cap="none" spc="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采用单例模式与缓存策略，优化数据库交互性能</a:t>
            </a:r>
            <a:endParaRPr kumimoji="0" lang="zh-CN" altLang="en-US" sz="2000" b="0" i="0" u="none" strike="noStrike" kern="1200" cap="none" spc="0" normalizeH="0" baseline="0" noProof="1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  <a:p>
            <a: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+mj-ea"/>
              <a:buAutoNum type="circleNumDbPlain"/>
            </a:pPr>
            <a:r>
              <a:rPr kumimoji="0" lang="zh-CN" altLang="en-US" sz="2000" b="0" i="0" u="none" strike="noStrike" kern="1200" cap="none" spc="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负责 PostgreSQL 表结构设计与初始化，保证数据一致性</a:t>
            </a:r>
            <a:endParaRPr kumimoji="0" lang="zh-CN" altLang="en-US" sz="2000" b="0" i="0" u="none" strike="noStrike" kern="1200" cap="none" spc="0" normalizeH="0" baseline="0" noProof="1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2000" b="0" i="0" u="none" strike="noStrike" kern="1200" cap="none" spc="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关键代码：EnrollmentBroker::enrollCourse()、RelationalBroker::query()</a:t>
            </a:r>
            <a:endParaRPr kumimoji="0" lang="zh-CN" altLang="en-US" sz="2000" b="0" i="0" u="none" strike="noStrike" kern="1200" cap="none" spc="0" normalizeH="0" baseline="0" noProof="1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四</a:t>
            </a:r>
            <a:r>
              <a:rPr lang="zh-CN" altLang="en-US">
                <a:sym typeface="+mn-ea"/>
              </a:rPr>
              <a:t>、</a:t>
            </a:r>
            <a:r>
              <a:rPr lang="zh-CN" altLang="en-US"/>
              <a:t>开发心得体会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r>
              <a:rPr lang="zh-CN" altLang="en-US"/>
              <a:t>    张雨欣：UI 与业务逻辑层的开发让我深刻体会到 “职责单一” 原则的重要性，分层设计让代码扩展性和可维护性大幅提升。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r>
              <a:rPr lang="zh-CN" altLang="en-US"/>
              <a:t>    刘城：领域层的设计是系统核心，将业务需求抽象为实体类的过程，让我对面向对象的 “封装” 和 “继承” 有了更深理解。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r>
              <a:rPr lang="zh-CN" altLang="en-US"/>
              <a:t>    苏茜：数据层开发重点是保证数据一致性和性能，单例模式与缓存策略的应用，让我对数据库编程有了更扎实的掌握。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1290</Words>
  <Application>WPS 演示</Application>
  <PresentationFormat>宽屏</PresentationFormat>
  <Paragraphs>131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Arial</vt:lpstr>
      <vt:lpstr>宋体</vt:lpstr>
      <vt:lpstr>Wingdings</vt:lpstr>
      <vt:lpstr>Calibri</vt:lpstr>
      <vt:lpstr>方正书宋_GBK</vt:lpstr>
      <vt:lpstr>Calibri Light</vt:lpstr>
      <vt:lpstr>微软雅黑</vt:lpstr>
      <vt:lpstr>宋体</vt:lpstr>
      <vt:lpstr>Arial Unicode MS</vt:lpstr>
      <vt:lpstr>WPS</vt:lpstr>
      <vt:lpstr>学生选课管理系统</vt:lpstr>
      <vt:lpstr>一、系统整体架构与代码组织</vt:lpstr>
      <vt:lpstr>类图设计</vt:lpstr>
      <vt:lpstr>代码目录结构</vt:lpstr>
      <vt:lpstr>二、核心功能实现</vt:lpstr>
      <vt:lpstr> 核心业务流程：学生选课</vt:lpstr>
      <vt:lpstr>三、小组分工与个人贡献</vt:lpstr>
      <vt:lpstr>PowerPoint 演示文稿</vt:lpstr>
      <vt:lpstr>PowerPoint 演示文稿</vt:lpstr>
      <vt:lpstr>四、开发心得体会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WPS_1697453849</cp:lastModifiedBy>
  <cp:revision>11</cp:revision>
  <dcterms:created xsi:type="dcterms:W3CDTF">2026-01-20T15:02:08Z</dcterms:created>
  <dcterms:modified xsi:type="dcterms:W3CDTF">2026-01-20T15:02:08Z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2052-12.1.0.17900</vt:lpwstr>
  </property>
  <property fmtid="{D5CDD505-2E9C-101B-9397-08002B2CF9AE}" pid="3" name="ICV">
    <vt:lpwstr>740DE0B3D1E191E3F0986F6941F5E4C0_43</vt:lpwstr>
  </property>
</Properties>
</file>